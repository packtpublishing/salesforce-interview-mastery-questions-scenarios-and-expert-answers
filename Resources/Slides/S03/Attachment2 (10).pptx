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62" r:id="rId2"/>
    <p:sldId id="263" r:id="rId3"/>
    <p:sldId id="264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9EBBA-996F-894A-B54A-D6246ED52CEA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3636511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A1323-8D79-1946-B0D7-40001CF92E9D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1999" y="-57090"/>
            <a:ext cx="1905000" cy="1905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0" y="1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2951396"/>
            <a:ext cx="10561418" cy="1468800"/>
          </a:xfrm>
        </p:spPr>
        <p:txBody>
          <a:bodyPr anchor="b"/>
          <a:lstStyle>
            <a:lvl1pPr algn="r">
              <a:defRPr sz="4800" b="1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</p:spPr>
        <p:txBody>
          <a:bodyPr anchor="t"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A1846-DA80-1C48-A609-854EA85C59AD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8712" y="2222287"/>
            <a:ext cx="5185873" cy="3638763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415" y="2222287"/>
            <a:ext cx="5194583" cy="3638764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02355-E14B-8545-A8F8-0FE83CC9D524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4729" y="2751138"/>
            <a:ext cx="5189856" cy="3109913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7415" y="2174875"/>
            <a:ext cx="5194583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7415" y="2751138"/>
            <a:ext cx="5194583" cy="3109913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40F58-564D-2B4F-AE67-E407BA4FCF45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A34C8-038E-2045-AF43-DF7DBB8E0E9E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8C68F-D26B-8F47-958C-23B49CF8A634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1073151" y="446087"/>
            <a:ext cx="3547533" cy="181465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1" y="446088"/>
            <a:ext cx="3547533" cy="161839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446088"/>
            <a:ext cx="6252633" cy="5414963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3151" y="2260738"/>
            <a:ext cx="3547533" cy="36003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F5E60-9974-AC48-9591-99C2BB44B7CF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728" y="727522"/>
            <a:ext cx="4852988" cy="1617163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6098117" y="0"/>
            <a:ext cx="6093883" cy="68580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400"/>
            </a:lvl1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4728" y="2344684"/>
            <a:ext cx="4852988" cy="3516365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85810" y="6041362"/>
            <a:ext cx="976879" cy="365125"/>
          </a:xfrm>
        </p:spPr>
        <p:txBody>
          <a:bodyPr/>
          <a:lstStyle/>
          <a:p>
            <a:fld id="{18C79C5D-2A6F-F04D-97DA-BEF2467B64E4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0396" y="6041362"/>
            <a:ext cx="3295413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62689" y="5915888"/>
            <a:ext cx="1062155" cy="490599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800600"/>
            <a:ext cx="10561418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12192000" cy="480060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0000" y="5367338"/>
            <a:ext cx="10561418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79C5D-2A6F-F04D-97DA-BEF2467B64E4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631697" y="1081456"/>
            <a:ext cx="6332416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</p:spPr>
        <p:txBody>
          <a:bodyPr anchor="b"/>
          <a:lstStyle>
            <a:lvl1pPr algn="l">
              <a:defRPr sz="4200" b="1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574642" y="1081456"/>
            <a:ext cx="3810001" cy="407546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A1846-DA80-1C48-A609-854EA85C59AD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1140884" y="2286585"/>
            <a:ext cx="4895115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156000" y="2286000"/>
            <a:ext cx="4880300" cy="229552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54567-0DE4-3F47-BF90-CB84690072F9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52C72-DE31-F449-A4ED-4C594FD91407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7669651" y="446089"/>
            <a:ext cx="4522349" cy="541496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83540" y="586171"/>
            <a:ext cx="2494791" cy="513479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0001" y="446089"/>
            <a:ext cx="6611540" cy="5414962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2726E-379B-B349-9EED-81ED093FA806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09B482E8-6E0E-1B4F-B1FD-C69DB9E858D9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3" r:id="rId9"/>
    <p:sldLayoutId id="2147483657" r:id="rId10"/>
    <p:sldLayoutId id="2147483666" r:id="rId11"/>
    <p:sldLayoutId id="2147483661" r:id="rId12"/>
    <p:sldLayoutId id="2147483658" r:id="rId13"/>
    <p:sldLayoutId id="2147483659" r:id="rId14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000" b="1" kern="1200">
          <a:solidFill>
            <a:srgbClr val="FEFEFE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0" y="114301"/>
            <a:ext cx="10018713" cy="711200"/>
          </a:xfrm>
        </p:spPr>
        <p:txBody>
          <a:bodyPr/>
          <a:lstStyle/>
          <a:p>
            <a:r>
              <a:rPr lang="en-US" dirty="0" smtClean="0"/>
              <a:t>What is a workflow?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89000" y="977900"/>
            <a:ext cx="10614023" cy="552449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Workflow automates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actions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based on your organization's processes: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Tasks—Assign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new task to a user, role, or record owner.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Email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Alerts—Send an email to one or more recipients you specify.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Field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Updates—Update the value of a field on a record.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Outbound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Messages—Send a secure, configurable API message (in XML format) to a designated listener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28717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1"/>
            <a:ext cx="10018713" cy="1270000"/>
          </a:xfrm>
        </p:spPr>
        <p:txBody>
          <a:bodyPr/>
          <a:lstStyle/>
          <a:p>
            <a:r>
              <a:rPr lang="en-US" b="1" i="1" dirty="0"/>
              <a:t>What are the actions in workflow?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base">
              <a:buFont typeface="Wingdings" panose="05000000000000000000" pitchFamily="2" charset="2"/>
              <a:buChar char="Ø"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Email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Alert</a:t>
            </a:r>
          </a:p>
          <a:p>
            <a:pPr fontAlgn="base"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Task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>
              <a:buFont typeface="Wingdings" panose="05000000000000000000" pitchFamily="2" charset="2"/>
              <a:buChar char="Ø"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Field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</a:t>
            </a:r>
          </a:p>
          <a:p>
            <a:pPr fontAlgn="base"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Outbound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Message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47012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8946" y="286556"/>
            <a:ext cx="10018713" cy="1323304"/>
          </a:xfrm>
        </p:spPr>
        <p:txBody>
          <a:bodyPr/>
          <a:lstStyle/>
          <a:p>
            <a:r>
              <a:rPr lang="en-US" b="1" i="1" dirty="0"/>
              <a:t>What is the difference between the Workflow and Approval Process?</a:t>
            </a:r>
            <a:endParaRPr lang="en-US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78737145"/>
              </p:ext>
            </p:extLst>
          </p:nvPr>
        </p:nvGraphicFramePr>
        <p:xfrm>
          <a:off x="928946" y="2209156"/>
          <a:ext cx="10119552" cy="3592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59776"/>
                <a:gridCol w="5059776"/>
              </a:tblGrid>
              <a:tr h="849648"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Workflow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Approval Process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849648">
                <a:tc>
                  <a:txBody>
                    <a:bodyPr/>
                    <a:lstStyle/>
                    <a:p>
                      <a:r>
                        <a:rPr lang="en-US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They are activated when a record is saved.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lang="en-US" sz="2400" b="0" i="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Approval process are triggered by explicitly clicking the "Submit for Approval" button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849648">
                <a:tc>
                  <a:txBody>
                    <a:bodyPr/>
                    <a:lstStyle/>
                    <a:p>
                      <a:r>
                        <a:rPr lang="en-US" sz="2400" b="0" i="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Workflow consists of single step and different action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0" i="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Approval process consists of multiple steps. Also different action is taken based upon whether the record is approved or rejected.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423998" y="5663842"/>
            <a:ext cx="1102860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DSCDefaultFontRegular"/>
              </a:rPr>
              <a:t> </a:t>
            </a:r>
          </a:p>
          <a:p>
            <a:r>
              <a:rPr lang="en-US" dirty="0">
                <a:latin typeface="DSCDefaultFontRegular"/>
              </a:rPr>
              <a:t> </a:t>
            </a:r>
            <a:r>
              <a:rPr lang="en-US" dirty="0" smtClean="0">
                <a:latin typeface="DSCDefaultFontRegular"/>
              </a:rPr>
              <a:t>Whenever a record is submitted for Approval process, the </a:t>
            </a:r>
            <a:r>
              <a:rPr lang="en-US" dirty="0">
                <a:latin typeface="DSCDefaultFontRegular"/>
              </a:rPr>
              <a:t>record </a:t>
            </a:r>
            <a:r>
              <a:rPr lang="en-US" dirty="0" smtClean="0">
                <a:latin typeface="DSCDefaultFontRegular"/>
              </a:rPr>
              <a:t>goes in locked state. If it gets approved, it remains in the lock state and if it gets rejected then the records becomes unlocked..</a:t>
            </a:r>
            <a:endParaRPr lang="en-US" b="0" i="0" dirty="0">
              <a:effectLst/>
              <a:latin typeface="DSCDefaultFontRegular"/>
            </a:endParaRPr>
          </a:p>
        </p:txBody>
      </p:sp>
    </p:spTree>
    <p:extLst>
      <p:ext uri="{BB962C8B-B14F-4D97-AF65-F5344CB8AC3E}">
        <p14:creationId xmlns:p14="http://schemas.microsoft.com/office/powerpoint/2010/main" val="21180884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Quotable">
  <a:themeElements>
    <a:clrScheme name="Quotable">
      <a:dk1>
        <a:sysClr val="windowText" lastClr="000000"/>
      </a:dk1>
      <a:lt1>
        <a:sysClr val="window" lastClr="FFFFFF"/>
      </a:lt1>
      <a:dk2>
        <a:srgbClr val="212121"/>
      </a:dk2>
      <a:lt2>
        <a:srgbClr val="636363"/>
      </a:lt2>
      <a:accent1>
        <a:srgbClr val="00C6BB"/>
      </a:accent1>
      <a:accent2>
        <a:srgbClr val="6FEBA0"/>
      </a:accent2>
      <a:accent3>
        <a:srgbClr val="B6DF5E"/>
      </a:accent3>
      <a:accent4>
        <a:srgbClr val="EFB251"/>
      </a:accent4>
      <a:accent5>
        <a:srgbClr val="EF755F"/>
      </a:accent5>
      <a:accent6>
        <a:srgbClr val="ED515C"/>
      </a:accent6>
      <a:hlink>
        <a:srgbClr val="8F8F8F"/>
      </a:hlink>
      <a:folHlink>
        <a:srgbClr val="A5A5A5"/>
      </a:folHlink>
    </a:clrScheme>
    <a:fontScheme name="Quotabl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Quotabl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Quotable" id="{39EC5628-30ED-4578-ACD8-9820EDB8E15A}" vid="{6F3559E9-1A4C-49D8-94D4-F41003531C4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TM03457503[[fn=Quotable]]</Template>
  <TotalTime>10</TotalTime>
  <Words>145</Words>
  <Application>Microsoft Office PowerPoint</Application>
  <PresentationFormat>Widescreen</PresentationFormat>
  <Paragraphs>20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Century Gothic</vt:lpstr>
      <vt:lpstr>DSCDefaultFontRegular</vt:lpstr>
      <vt:lpstr>Times New Roman</vt:lpstr>
      <vt:lpstr>Wingdings</vt:lpstr>
      <vt:lpstr>Wingdings 2</vt:lpstr>
      <vt:lpstr>Quotable</vt:lpstr>
      <vt:lpstr>What is a workflow?</vt:lpstr>
      <vt:lpstr>What are the actions in workflow?</vt:lpstr>
      <vt:lpstr>What is the difference between the Workflow and Approval Process?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Sim Aulakh</dc:creator>
  <cp:lastModifiedBy>Sim Aulakh</cp:lastModifiedBy>
  <cp:revision>8</cp:revision>
  <dcterms:created xsi:type="dcterms:W3CDTF">2018-04-29T17:12:04Z</dcterms:created>
  <dcterms:modified xsi:type="dcterms:W3CDTF">2018-04-29T17:22:06Z</dcterms:modified>
</cp:coreProperties>
</file>